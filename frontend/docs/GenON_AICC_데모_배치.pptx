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8"/>
  </p:normalViewPr>
  <p:slideViewPr>
    <p:cSldViewPr snapToGrid="0" snapToObjects="1">
      <p:cViewPr varScale="1">
        <p:scale>
          <a:sx n="114" d="100"/>
          <a:sy n="114" d="100"/>
        </p:scale>
        <p:origin x="6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154680"/>
            <a:ext cx="12191695" cy="54864"/>
          </a:xfrm>
          <a:prstGeom prst="rect">
            <a:avLst/>
          </a:prstGeom>
          <a:solidFill>
            <a:srgbClr val="15C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pple SD Gothic Neo"/>
              </a:rPr>
              <a:t>GenON </a:t>
            </a:r>
            <a:r>
              <a:rPr sz="4600" b="1" i="0">
                <a:solidFill>
                  <a:srgbClr val="15C2A2"/>
                </a:solidFill>
                <a:latin typeface="Apple SD Gothic Neo"/>
              </a:rPr>
              <a:t>LIFE</a:t>
            </a:r>
            <a:r>
              <a:rPr sz="4600" b="1" i="0">
                <a:solidFill>
                  <a:srgbClr val="FFFFFF"/>
                </a:solidFill>
                <a:latin typeface="Apple SD Gothic Neo"/>
              </a:rPr>
              <a:t>  ·  AICC 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337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CFE0F1"/>
                </a:solidFill>
                <a:latin typeface="Apple SD Gothic Neo"/>
              </a:rPr>
              <a:t>AI 기반 컨택센터 상담 어시스턴트 — 화면별 핵심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0690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9FC4EE"/>
                </a:solidFill>
                <a:latin typeface="Apple SD Gothic Neo"/>
              </a:rPr>
              <a:t>실시간 상담 보조 · 후처리 자동화 · 오안내·누락 검수 · 민원 탐지 · 실시간 코칭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F8CB5"/>
                </a:solidFill>
                <a:latin typeface="Apple SD Gothic Neo"/>
              </a:rPr>
              <a:t>© 2026 GenON LIFE · AICC Portal 데모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3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15C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ple SD Gothic Neo"/>
              </a:rPr>
              <a:t>로그인 · 역할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41248"/>
            <a:ext cx="8778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9FC4EE"/>
                </a:solidFill>
                <a:latin typeface="Apple SD Gothic Neo"/>
              </a:rPr>
              <a:t>/login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61320" y="384048"/>
            <a:ext cx="644652" cy="310896"/>
          </a:xfrm>
          <a:prstGeom prst="roundRect">
            <a:avLst/>
          </a:prstGeom>
          <a:solidFill>
            <a:srgbClr val="3D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100" b="1" i="0">
                <a:solidFill>
                  <a:srgbClr val="0F3468"/>
                </a:solidFill>
                <a:latin typeface="Apple SD Gothic Neo"/>
              </a:rPr>
              <a:t>공통 화면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861" y="1746504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dirty="0" err="1">
                <a:solidFill>
                  <a:srgbClr val="15C2A2"/>
                </a:solidFill>
                <a:latin typeface="Apple SD Gothic Neo"/>
              </a:rPr>
              <a:t>정의</a:t>
            </a:r>
            <a:endParaRPr sz="1200" b="1" i="0" dirty="0">
              <a:solidFill>
                <a:srgbClr val="15C2A2"/>
              </a:solidFill>
              <a:latin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41861" y="2047148"/>
            <a:ext cx="3158360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 dirty="0" err="1">
                <a:solidFill>
                  <a:srgbClr val="5B6B80"/>
                </a:solidFill>
                <a:latin typeface="Apple SD Gothic Neo"/>
              </a:rPr>
              <a:t>상담사·관리자</a:t>
            </a:r>
            <a:r>
              <a:rPr sz="145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450" b="0" i="0" dirty="0" err="1">
                <a:solidFill>
                  <a:srgbClr val="5B6B80"/>
                </a:solidFill>
                <a:latin typeface="Apple SD Gothic Neo"/>
              </a:rPr>
              <a:t>계정</a:t>
            </a:r>
            <a:r>
              <a:rPr sz="145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450" b="0" i="0" dirty="0" err="1">
                <a:solidFill>
                  <a:srgbClr val="5B6B80"/>
                </a:solidFill>
                <a:latin typeface="Apple SD Gothic Neo"/>
              </a:rPr>
              <a:t>유형을</a:t>
            </a:r>
            <a:r>
              <a:rPr sz="145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450" b="0" i="0" dirty="0" err="1">
                <a:solidFill>
                  <a:srgbClr val="5B6B80"/>
                </a:solidFill>
                <a:latin typeface="Apple SD Gothic Neo"/>
              </a:rPr>
              <a:t>선택해</a:t>
            </a:r>
            <a:r>
              <a:rPr sz="145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450" b="0" i="0" dirty="0" err="1">
                <a:solidFill>
                  <a:srgbClr val="5B6B80"/>
                </a:solidFill>
                <a:latin typeface="Apple SD Gothic Neo"/>
              </a:rPr>
              <a:t>진입하는</a:t>
            </a:r>
            <a:r>
              <a:rPr sz="145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450" b="0" i="0" dirty="0" err="1">
                <a:solidFill>
                  <a:srgbClr val="5B6B80"/>
                </a:solidFill>
                <a:latin typeface="Apple SD Gothic Neo"/>
              </a:rPr>
              <a:t>역할</a:t>
            </a:r>
            <a:r>
              <a:rPr sz="145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450" b="0" i="0" dirty="0" err="1">
                <a:solidFill>
                  <a:srgbClr val="5B6B80"/>
                </a:solidFill>
                <a:latin typeface="Apple SD Gothic Neo"/>
              </a:rPr>
              <a:t>기반</a:t>
            </a:r>
            <a:r>
              <a:rPr sz="145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450" b="0" i="0" dirty="0" err="1">
                <a:solidFill>
                  <a:srgbClr val="5B6B80"/>
                </a:solidFill>
                <a:latin typeface="Apple SD Gothic Neo"/>
              </a:rPr>
              <a:t>로그인</a:t>
            </a:r>
            <a:r>
              <a:rPr sz="145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450" b="0" i="0" dirty="0" err="1">
                <a:solidFill>
                  <a:srgbClr val="5B6B80"/>
                </a:solidFill>
                <a:latin typeface="Apple SD Gothic Neo"/>
              </a:rPr>
              <a:t>화면입니다</a:t>
            </a:r>
            <a:r>
              <a:rPr sz="1450" b="0" i="0" dirty="0">
                <a:solidFill>
                  <a:srgbClr val="5B6B80"/>
                </a:solidFill>
                <a:latin typeface="Apple SD Gothic Neo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861" y="2968475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dirty="0" err="1">
                <a:solidFill>
                  <a:srgbClr val="2F6BB0"/>
                </a:solidFill>
                <a:latin typeface="Apple SD Gothic Neo"/>
              </a:rPr>
              <a:t>핵심</a:t>
            </a:r>
            <a:r>
              <a:rPr sz="1200" b="1" i="0" dirty="0">
                <a:solidFill>
                  <a:srgbClr val="2F6BB0"/>
                </a:solidFill>
                <a:latin typeface="Apple SD Gothic Neo"/>
              </a:rPr>
              <a:t> </a:t>
            </a:r>
            <a:r>
              <a:rPr sz="1200" b="1" i="0" dirty="0" err="1">
                <a:solidFill>
                  <a:srgbClr val="2F6BB0"/>
                </a:solidFill>
                <a:latin typeface="Apple SD Gothic Neo"/>
              </a:rPr>
              <a:t>기능</a:t>
            </a:r>
            <a:endParaRPr sz="1200" b="1" i="0" dirty="0">
              <a:solidFill>
                <a:srgbClr val="2F6BB0"/>
              </a:solidFill>
              <a:latin typeface="Apple SD Gothic Neo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522556" y="3464684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41861" y="3325091"/>
            <a:ext cx="3110521" cy="5155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 dirty="0" err="1">
                <a:solidFill>
                  <a:srgbClr val="10233F"/>
                </a:solidFill>
                <a:latin typeface="Apple SD Gothic Neo"/>
              </a:rPr>
              <a:t>계정</a:t>
            </a:r>
            <a:r>
              <a:rPr sz="1450" b="1" i="0" dirty="0">
                <a:solidFill>
                  <a:srgbClr val="10233F"/>
                </a:solidFill>
                <a:latin typeface="Apple SD Gothic Neo"/>
              </a:rPr>
              <a:t> </a:t>
            </a:r>
            <a:r>
              <a:rPr sz="1450" b="1" i="0" dirty="0" err="1">
                <a:solidFill>
                  <a:srgbClr val="10233F"/>
                </a:solidFill>
                <a:latin typeface="Apple SD Gothic Neo"/>
              </a:rPr>
              <a:t>유형</a:t>
            </a:r>
            <a:r>
              <a:rPr sz="1450" b="1" i="0" dirty="0">
                <a:solidFill>
                  <a:srgbClr val="10233F"/>
                </a:solidFill>
                <a:latin typeface="Apple SD Gothic Neo"/>
              </a:rPr>
              <a:t> </a:t>
            </a:r>
            <a:r>
              <a:rPr sz="1450" b="1" i="0" dirty="0" err="1">
                <a:solidFill>
                  <a:srgbClr val="10233F"/>
                </a:solidFill>
                <a:latin typeface="Apple SD Gothic Neo"/>
              </a:rPr>
              <a:t>선택</a:t>
            </a:r>
            <a:r>
              <a:rPr sz="1450" b="1" i="0" dirty="0">
                <a:solidFill>
                  <a:srgbClr val="10233F"/>
                </a:solidFill>
                <a:latin typeface="Apple SD Gothic Neo"/>
              </a:rPr>
              <a:t>  </a:t>
            </a:r>
            <a:br>
              <a:rPr lang="en-US" sz="1450" b="1" i="0" dirty="0">
                <a:solidFill>
                  <a:srgbClr val="10233F"/>
                </a:solidFill>
                <a:latin typeface="Apple SD Gothic Neo"/>
              </a:rPr>
            </a:b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상담사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/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관리자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2개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역할로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진입</a:t>
            </a:r>
            <a:endParaRPr sz="1300" b="0" i="0" dirty="0">
              <a:solidFill>
                <a:srgbClr val="5B6B80"/>
              </a:solidFill>
              <a:latin typeface="Apple SD Gothic Neo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22556" y="4031612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22556" y="4821563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67676" y="3957484"/>
            <a:ext cx="3106730" cy="5155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 dirty="0" err="1">
                <a:solidFill>
                  <a:srgbClr val="10233F"/>
                </a:solidFill>
                <a:latin typeface="Apple SD Gothic Neo"/>
              </a:rPr>
              <a:t>브랜드</a:t>
            </a:r>
            <a:r>
              <a:rPr sz="1450" b="1" i="0" dirty="0">
                <a:solidFill>
                  <a:srgbClr val="10233F"/>
                </a:solidFill>
                <a:latin typeface="Apple SD Gothic Neo"/>
              </a:rPr>
              <a:t> </a:t>
            </a:r>
            <a:r>
              <a:rPr sz="1450" b="1" i="0" dirty="0" err="1">
                <a:solidFill>
                  <a:srgbClr val="10233F"/>
                </a:solidFill>
                <a:latin typeface="Apple SD Gothic Neo"/>
              </a:rPr>
              <a:t>진입</a:t>
            </a:r>
            <a:r>
              <a:rPr sz="1450" b="1" i="0" dirty="0">
                <a:solidFill>
                  <a:srgbClr val="10233F"/>
                </a:solidFill>
                <a:latin typeface="Apple SD Gothic Neo"/>
              </a:rPr>
              <a:t> </a:t>
            </a:r>
            <a:r>
              <a:rPr sz="1450" b="1" i="0" dirty="0" err="1">
                <a:solidFill>
                  <a:srgbClr val="10233F"/>
                </a:solidFill>
                <a:latin typeface="Apple SD Gothic Neo"/>
              </a:rPr>
              <a:t>경험</a:t>
            </a:r>
            <a:r>
              <a:rPr sz="1450" b="1" i="0" dirty="0">
                <a:solidFill>
                  <a:srgbClr val="10233F"/>
                </a:solidFill>
                <a:latin typeface="Apple SD Gothic Neo"/>
              </a:rPr>
              <a:t>  </a:t>
            </a:r>
            <a:br>
              <a:rPr lang="en-US" sz="1450" b="1" i="0" dirty="0">
                <a:solidFill>
                  <a:srgbClr val="10233F"/>
                </a:solidFill>
                <a:latin typeface="Apple SD Gothic Neo"/>
              </a:rPr>
            </a:b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AICC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포털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브랜드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패널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+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보안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로그인</a:t>
            </a:r>
            <a:endParaRPr sz="1300" b="0" i="0" dirty="0">
              <a:solidFill>
                <a:srgbClr val="5B6B80"/>
              </a:solidFill>
              <a:latin typeface="Apple SD Gothic Neo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08462" y="5998464"/>
            <a:ext cx="11074946" cy="640080"/>
          </a:xfrm>
          <a:prstGeom prst="roundRect">
            <a:avLst/>
          </a:prstGeom>
          <a:solidFill>
            <a:srgbClr val="F2F8FF"/>
          </a:solidFill>
          <a:ln w="9525">
            <a:solidFill>
              <a:srgbClr val="BAD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/>
            <a:r>
              <a:rPr sz="1200" b="1" i="0">
                <a:solidFill>
                  <a:srgbClr val="15C2A2"/>
                </a:solidFill>
                <a:latin typeface="Apple SD Gothic Neo"/>
              </a:rPr>
              <a:t>POINT  </a:t>
            </a:r>
            <a:r>
              <a:rPr sz="1300" b="0" i="0">
                <a:solidFill>
                  <a:srgbClr val="0F3468"/>
                </a:solidFill>
                <a:latin typeface="Apple SD Gothic Neo"/>
              </a:rPr>
              <a:t>하나의 포털에서 상담사 업무와 관리자 운영 화면을 역할에 맞춰 제공합니다.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2E9D655-BD0A-2593-63FE-143885CD7E2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39618" y="1536192"/>
            <a:ext cx="7812284" cy="4242432"/>
          </a:xfrm>
          <a:prstGeom prst="rect">
            <a:avLst/>
          </a:prstGeom>
          <a:ln w="12700">
            <a:solidFill>
              <a:srgbClr val="CDD9E8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3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15C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ple SD Gothic Neo"/>
              </a:rPr>
              <a:t>AI 상담 홈 (상담사)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41248"/>
            <a:ext cx="8778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9FC4EE"/>
                </a:solidFill>
                <a:latin typeface="Apple SD Gothic Neo"/>
              </a:rPr>
              <a:t>/main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61320" y="384048"/>
            <a:ext cx="740664" cy="310896"/>
          </a:xfrm>
          <a:prstGeom prst="roundRect">
            <a:avLst/>
          </a:prstGeom>
          <a:solidFill>
            <a:srgbClr val="3D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100" b="1" i="0">
                <a:solidFill>
                  <a:srgbClr val="0F3468"/>
                </a:solidFill>
                <a:latin typeface="Apple SD Gothic Neo"/>
              </a:rPr>
              <a:t>상담사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B6B80"/>
                </a:solidFill>
                <a:latin typeface="Apple SD Gothic Neo"/>
              </a:rPr>
              <a:t>03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5C2A2"/>
                </a:solidFill>
                <a:latin typeface="Apple SD Gothic Neo"/>
              </a:rPr>
              <a:t>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92224"/>
            <a:ext cx="54223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5B6B80"/>
                </a:solidFill>
                <a:latin typeface="Apple SD Gothic Neo"/>
              </a:rPr>
              <a:t>상담사의 업무 시작점 — 실시간 콜 수신과 개인 업무 대시보드를 제공합니다.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42032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F6BB0"/>
                </a:solidFill>
                <a:latin typeface="Apple SD Gothic Neo"/>
              </a:rPr>
              <a:t>핵심 기능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2980944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076" y="4027932"/>
            <a:ext cx="516524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 dirty="0" err="1">
                <a:solidFill>
                  <a:srgbClr val="10233F"/>
                </a:solidFill>
                <a:latin typeface="Apple SD Gothic Neo"/>
              </a:rPr>
              <a:t>콜</a:t>
            </a:r>
            <a:r>
              <a:rPr sz="1450" b="1" i="0" dirty="0">
                <a:solidFill>
                  <a:srgbClr val="10233F"/>
                </a:solidFill>
                <a:latin typeface="Apple SD Gothic Neo"/>
              </a:rPr>
              <a:t> </a:t>
            </a:r>
            <a:r>
              <a:rPr sz="1450" b="1" i="0" dirty="0" err="1">
                <a:solidFill>
                  <a:srgbClr val="10233F"/>
                </a:solidFill>
                <a:latin typeface="Apple SD Gothic Neo"/>
              </a:rPr>
              <a:t>인입</a:t>
            </a:r>
            <a:r>
              <a:rPr sz="1450" b="1" i="0" dirty="0">
                <a:solidFill>
                  <a:srgbClr val="10233F"/>
                </a:solidFill>
                <a:latin typeface="Apple SD Gothic Neo"/>
              </a:rPr>
              <a:t> </a:t>
            </a:r>
            <a:r>
              <a:rPr sz="1450" b="1" i="0" dirty="0" err="1">
                <a:solidFill>
                  <a:srgbClr val="10233F"/>
                </a:solidFill>
                <a:latin typeface="Apple SD Gothic Neo"/>
              </a:rPr>
              <a:t>패널</a:t>
            </a:r>
            <a:r>
              <a:rPr sz="1450" b="1" i="0" dirty="0">
                <a:solidFill>
                  <a:srgbClr val="10233F"/>
                </a:solidFill>
                <a:latin typeface="Apple SD Gothic Neo"/>
              </a:rPr>
              <a:t> 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실시간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콜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수신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→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통화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받기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,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고객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정보·예상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문의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자동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로딩</a:t>
            </a:r>
            <a:endParaRPr sz="1300" b="0" i="0" dirty="0">
              <a:solidFill>
                <a:srgbClr val="5B6B80"/>
              </a:solidFill>
              <a:latin typeface="Apple SD Gothic Neo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3504" y="3547872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076" y="3467583"/>
            <a:ext cx="516524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 dirty="0" err="1">
                <a:solidFill>
                  <a:srgbClr val="10233F"/>
                </a:solidFill>
                <a:latin typeface="Apple SD Gothic Neo"/>
              </a:rPr>
              <a:t>나만의</a:t>
            </a:r>
            <a:r>
              <a:rPr sz="1450" b="1" i="0" dirty="0">
                <a:solidFill>
                  <a:srgbClr val="10233F"/>
                </a:solidFill>
                <a:latin typeface="Apple SD Gothic Neo"/>
              </a:rPr>
              <a:t> </a:t>
            </a:r>
            <a:r>
              <a:rPr sz="1450" b="1" i="0" dirty="0" err="1">
                <a:solidFill>
                  <a:srgbClr val="10233F"/>
                </a:solidFill>
                <a:latin typeface="Apple SD Gothic Neo"/>
              </a:rPr>
              <a:t>업무</a:t>
            </a:r>
            <a:r>
              <a:rPr sz="1450" b="1" i="0" dirty="0">
                <a:solidFill>
                  <a:srgbClr val="10233F"/>
                </a:solidFill>
                <a:latin typeface="Apple SD Gothic Neo"/>
              </a:rPr>
              <a:t> </a:t>
            </a:r>
            <a:r>
              <a:rPr sz="1450" b="1" i="0" dirty="0" err="1">
                <a:solidFill>
                  <a:srgbClr val="10233F"/>
                </a:solidFill>
                <a:latin typeface="Apple SD Gothic Neo"/>
              </a:rPr>
              <a:t>어시스턴트</a:t>
            </a:r>
            <a:r>
              <a:rPr sz="1450" b="1" i="0" dirty="0">
                <a:solidFill>
                  <a:srgbClr val="10233F"/>
                </a:solidFill>
                <a:latin typeface="Apple SD Gothic Neo"/>
              </a:rPr>
              <a:t> 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약관·규정·스크립트를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자연어로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빠르게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검색</a:t>
            </a:r>
            <a:endParaRPr sz="1300" b="0" i="0" dirty="0">
              <a:solidFill>
                <a:srgbClr val="5B6B80"/>
              </a:solidFill>
              <a:latin typeface="Apple SD Gothic Neo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03504" y="4114800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80" y="4608576"/>
            <a:ext cx="51635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바로가기 · 오늘의 상담 이력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자주 쓰는 업무 화면 + 후처리 필요 건 바로 진입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" y="4681728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5227" y="2905562"/>
            <a:ext cx="515409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 dirty="0" err="1">
                <a:solidFill>
                  <a:srgbClr val="10233F"/>
                </a:solidFill>
                <a:latin typeface="Apple SD Gothic Neo"/>
              </a:rPr>
              <a:t>개인</a:t>
            </a:r>
            <a:r>
              <a:rPr sz="1450" b="1" i="0" dirty="0">
                <a:solidFill>
                  <a:srgbClr val="10233F"/>
                </a:solidFill>
                <a:latin typeface="Apple SD Gothic Neo"/>
              </a:rPr>
              <a:t> KPI 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오늘의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상담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목표율·후처리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대기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등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업무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현황</a:t>
            </a:r>
            <a:endParaRPr sz="1300" b="0" i="0" dirty="0">
              <a:solidFill>
                <a:srgbClr val="5B6B80"/>
              </a:solidFill>
              <a:latin typeface="Apple SD Gothic Neo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66928" y="5532120"/>
            <a:ext cx="5422392" cy="749808"/>
          </a:xfrm>
          <a:prstGeom prst="roundRect">
            <a:avLst/>
          </a:prstGeom>
          <a:solidFill>
            <a:srgbClr val="F2F8FF"/>
          </a:solidFill>
          <a:ln w="9525">
            <a:solidFill>
              <a:srgbClr val="BAD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/>
            <a:r>
              <a:rPr sz="1200" b="1" i="0">
                <a:solidFill>
                  <a:srgbClr val="15C2A2"/>
                </a:solidFill>
                <a:latin typeface="Apple SD Gothic Neo"/>
              </a:rPr>
              <a:t>POINT  </a:t>
            </a:r>
            <a:r>
              <a:rPr sz="1300" b="0" i="0">
                <a:solidFill>
                  <a:srgbClr val="0F3468"/>
                </a:solidFill>
                <a:latin typeface="Apple SD Gothic Neo"/>
              </a:rPr>
              <a:t>콜을 받기 전에 고객 이력·예상 문의까지 AI가 미리 준비해 응대 속도를 높입니다.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57738132-F8B7-0360-0259-CB54DD9A67B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400800" y="2458488"/>
            <a:ext cx="5486400" cy="2992582"/>
          </a:xfrm>
          <a:prstGeom prst="rect">
            <a:avLst/>
          </a:prstGeom>
          <a:ln w="12700">
            <a:solidFill>
              <a:srgbClr val="CDD9E8"/>
            </a:solidFill>
          </a:ln>
        </p:spPr>
      </p:pic>
      <p:cxnSp>
        <p:nvCxnSpPr>
          <p:cNvPr id="22" name="Connector 21"/>
          <p:cNvCxnSpPr/>
          <p:nvPr/>
        </p:nvCxnSpPr>
        <p:spPr>
          <a:xfrm flipV="1">
            <a:off x="6035040" y="2120264"/>
            <a:ext cx="402336" cy="915544"/>
          </a:xfrm>
          <a:prstGeom prst="bentConnector3">
            <a:avLst/>
          </a:prstGeom>
          <a:ln w="15875">
            <a:solidFill>
              <a:srgbClr val="2F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035040" y="3343274"/>
            <a:ext cx="402336" cy="259462"/>
          </a:xfrm>
          <a:prstGeom prst="bentConnector3">
            <a:avLst/>
          </a:prstGeom>
          <a:ln w="15875">
            <a:solidFill>
              <a:srgbClr val="2F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35040" y="4169663"/>
            <a:ext cx="402336" cy="396622"/>
          </a:xfrm>
          <a:prstGeom prst="bentConnector3">
            <a:avLst/>
          </a:prstGeom>
          <a:ln w="15875">
            <a:solidFill>
              <a:srgbClr val="2F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35040" y="4736592"/>
            <a:ext cx="402336" cy="1052702"/>
          </a:xfrm>
          <a:prstGeom prst="bentConnector3">
            <a:avLst/>
          </a:prstGeom>
          <a:ln w="15875">
            <a:solidFill>
              <a:srgbClr val="2F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955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3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15C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Apple SD Gothic Neo"/>
              </a:rPr>
              <a:t>실시간</a:t>
            </a:r>
            <a:r>
              <a:rPr sz="2600" b="1" i="0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pple SD Gothic Neo"/>
              </a:rPr>
              <a:t>고객</a:t>
            </a:r>
            <a:r>
              <a:rPr sz="2600" b="1" i="0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pple SD Gothic Neo"/>
              </a:rPr>
              <a:t>상담</a:t>
            </a:r>
            <a:r>
              <a:rPr sz="2600" b="1" i="0" dirty="0">
                <a:solidFill>
                  <a:srgbClr val="FFFFFF"/>
                </a:solidFill>
                <a:latin typeface="Apple SD Gothic Neo"/>
              </a:rPr>
              <a:t> · </a:t>
            </a:r>
            <a:r>
              <a:rPr sz="2600" b="1" i="0" dirty="0" err="1">
                <a:solidFill>
                  <a:srgbClr val="FFFFFF"/>
                </a:solidFill>
                <a:latin typeface="Apple SD Gothic Neo"/>
              </a:rPr>
              <a:t>콜</a:t>
            </a:r>
            <a:r>
              <a:rPr sz="2600" b="1" i="0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pple SD Gothic Neo"/>
              </a:rPr>
              <a:t>대기</a:t>
            </a:r>
            <a:r>
              <a:rPr sz="2600" b="1" i="0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pple SD Gothic Neo"/>
              </a:rPr>
              <a:t>화면</a:t>
            </a:r>
            <a:endParaRPr sz="2600" b="1" i="0" dirty="0">
              <a:solidFill>
                <a:srgbClr val="FFFFFF"/>
              </a:solidFill>
              <a:latin typeface="Apple SD Gothic Ne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5216" y="841248"/>
            <a:ext cx="8778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9FC4EE"/>
                </a:solidFill>
                <a:latin typeface="Apple SD Gothic Neo"/>
              </a:rPr>
              <a:t>/insight-chat · counseling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61320" y="384048"/>
            <a:ext cx="740664" cy="310896"/>
          </a:xfrm>
          <a:prstGeom prst="roundRect">
            <a:avLst/>
          </a:prstGeom>
          <a:solidFill>
            <a:srgbClr val="3D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100" b="1" i="0">
                <a:solidFill>
                  <a:srgbClr val="0F3468"/>
                </a:solidFill>
                <a:latin typeface="Apple SD Gothic Neo"/>
              </a:rPr>
              <a:t>상담사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B6B80"/>
                </a:solidFill>
                <a:latin typeface="Apple SD Gothic Neo"/>
              </a:rPr>
              <a:t>05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5C2A2"/>
                </a:solidFill>
                <a:latin typeface="Apple SD Gothic Neo"/>
              </a:rPr>
              <a:t>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92224"/>
            <a:ext cx="54223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5B6B80"/>
                </a:solidFill>
                <a:latin typeface="Apple SD Gothic Neo"/>
              </a:rPr>
              <a:t>통화가 없는 대기 시간에 업무를 숙지하는 기본(대기) 화면입니다.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42032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F6BB0"/>
                </a:solidFill>
                <a:latin typeface="Apple SD Gothic Neo"/>
              </a:rPr>
              <a:t>핵심 기능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2980944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5120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콜 대기 상태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콜 연결 시 실시간 STT가 시작됨을 안내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3547872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456432"/>
            <a:ext cx="5120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필수·자주 상담 가이드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도입·본인확인부터 해지·민원 응대까지 단계별 가이드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" y="4114800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023360"/>
            <a:ext cx="5120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제논라이프 상품 카탈로그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전체 판매 상품을 유형별로 확인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" y="4681728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590288"/>
            <a:ext cx="5120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상담지식 검색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빈 시간에 약관·업무 기준을 미리 학습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532120"/>
            <a:ext cx="5422392" cy="749808"/>
          </a:xfrm>
          <a:prstGeom prst="roundRect">
            <a:avLst/>
          </a:prstGeom>
          <a:solidFill>
            <a:srgbClr val="F2F8FF"/>
          </a:solidFill>
          <a:ln w="9525">
            <a:solidFill>
              <a:srgbClr val="BAD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/>
            <a:r>
              <a:rPr sz="1200" b="1" i="0">
                <a:solidFill>
                  <a:srgbClr val="15C2A2"/>
                </a:solidFill>
                <a:latin typeface="Apple SD Gothic Neo"/>
              </a:rPr>
              <a:t>POINT  </a:t>
            </a:r>
            <a:r>
              <a:rPr sz="1300" b="0" i="0">
                <a:solidFill>
                  <a:srgbClr val="0F3468"/>
                </a:solidFill>
                <a:latin typeface="Apple SD Gothic Neo"/>
              </a:rPr>
              <a:t>유휴 시간을 상담 품질을 끌어올리는 학습 시간으로 전환합니다.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AFC6E67-A0BE-5526-E1AC-BB8D8714794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400800" y="2466911"/>
            <a:ext cx="5486400" cy="2975736"/>
          </a:xfrm>
          <a:prstGeom prst="rect">
            <a:avLst/>
          </a:prstGeom>
          <a:ln w="12700">
            <a:solidFill>
              <a:srgbClr val="CDD9E8"/>
            </a:solidFill>
          </a:ln>
        </p:spPr>
      </p:pic>
      <p:cxnSp>
        <p:nvCxnSpPr>
          <p:cNvPr id="22" name="Connector 21"/>
          <p:cNvCxnSpPr/>
          <p:nvPr/>
        </p:nvCxnSpPr>
        <p:spPr>
          <a:xfrm flipV="1">
            <a:off x="6035040" y="2120264"/>
            <a:ext cx="402336" cy="915544"/>
          </a:xfrm>
          <a:prstGeom prst="bentConnector3">
            <a:avLst/>
          </a:prstGeom>
          <a:ln w="15875">
            <a:solidFill>
              <a:srgbClr val="2F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035040" y="3343274"/>
            <a:ext cx="402336" cy="259462"/>
          </a:xfrm>
          <a:prstGeom prst="bentConnector3">
            <a:avLst/>
          </a:prstGeom>
          <a:ln w="15875">
            <a:solidFill>
              <a:srgbClr val="2F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35040" y="4169663"/>
            <a:ext cx="402336" cy="396622"/>
          </a:xfrm>
          <a:prstGeom prst="bentConnector3">
            <a:avLst/>
          </a:prstGeom>
          <a:ln w="15875">
            <a:solidFill>
              <a:srgbClr val="2F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35040" y="4736592"/>
            <a:ext cx="402336" cy="1052702"/>
          </a:xfrm>
          <a:prstGeom prst="bentConnector3">
            <a:avLst/>
          </a:prstGeom>
          <a:ln w="15875">
            <a:solidFill>
              <a:srgbClr val="2F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3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15C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877824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 dirty="0" err="1">
                <a:solidFill>
                  <a:srgbClr val="FFFFFF"/>
                </a:solidFill>
                <a:latin typeface="Apple SD Gothic Neo"/>
              </a:rPr>
              <a:t>실시간</a:t>
            </a:r>
            <a:r>
              <a:rPr sz="2600" b="1" i="0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pple SD Gothic Neo"/>
              </a:rPr>
              <a:t>고객</a:t>
            </a:r>
            <a:r>
              <a:rPr sz="2600" b="1" i="0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pple SD Gothic Neo"/>
              </a:rPr>
              <a:t>상담</a:t>
            </a:r>
            <a:r>
              <a:rPr lang="ko-KR" altLang="en-US" sz="2600" b="1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lang="ko-Kore-KR" altLang="en-US" sz="2600" b="1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lang="en-US" altLang="ko-Kore-KR" sz="2600" b="1" dirty="0">
                <a:solidFill>
                  <a:srgbClr val="FFFFFF"/>
                </a:solidFill>
                <a:latin typeface="Apple SD Gothic Neo"/>
              </a:rPr>
              <a:t>· </a:t>
            </a:r>
            <a:r>
              <a:rPr lang="ko-KR" altLang="en-US" sz="2600" b="1" dirty="0">
                <a:solidFill>
                  <a:srgbClr val="FFFFFF"/>
                </a:solidFill>
                <a:latin typeface="Apple SD Gothic Neo"/>
              </a:rPr>
              <a:t>상담 시작</a:t>
            </a:r>
            <a:endParaRPr sz="2600" b="1" i="0" dirty="0">
              <a:solidFill>
                <a:srgbClr val="FFFFFF"/>
              </a:solidFill>
              <a:latin typeface="Apple SD Gothic Ne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5216" y="841248"/>
            <a:ext cx="8778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9FC4EE"/>
                </a:solidFill>
                <a:latin typeface="Apple SD Gothic Neo"/>
              </a:rPr>
              <a:t>/insight-chat · counseling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61320" y="384048"/>
            <a:ext cx="740664" cy="310896"/>
          </a:xfrm>
          <a:prstGeom prst="roundRect">
            <a:avLst/>
          </a:prstGeom>
          <a:solidFill>
            <a:srgbClr val="3D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100" b="1" i="0">
                <a:solidFill>
                  <a:srgbClr val="0F3468"/>
                </a:solidFill>
                <a:latin typeface="Apple SD Gothic Neo"/>
              </a:rPr>
              <a:t>상담사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B6B80"/>
                </a:solidFill>
                <a:latin typeface="Apple SD Gothic Neo"/>
              </a:rPr>
              <a:t>04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5C2A2"/>
                </a:solidFill>
                <a:latin typeface="Apple SD Gothic Neo"/>
              </a:rPr>
              <a:t>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92224"/>
            <a:ext cx="54223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5B6B80"/>
                </a:solidFill>
                <a:latin typeface="Apple SD Gothic Neo"/>
              </a:rPr>
              <a:t>통화 중 실시간으로 상담사를 보조하는 AICC 핵심 화면입니다.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42032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F6BB0"/>
                </a:solidFill>
                <a:latin typeface="Apple SD Gothic Neo"/>
              </a:rPr>
              <a:t>핵심 기능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2980944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5120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실시간 STT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통화를 실시간 받아쓰고 발화에서 키워드를 자동 추출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3547872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456432"/>
            <a:ext cx="5120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상담 가이드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FCR 필수 안내 자동 체크 · 대화 유형별 추천 스크립트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" y="4114800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023360"/>
            <a:ext cx="5120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상담지식 어시스턴트 (RAG)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약관·업무 기준 지식 질의응답 + 출처 제시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" y="4681728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590288"/>
            <a:ext cx="5120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업무정보 연동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계약·처리계 데이터(제출 현황·처리 가능·예상 환급금)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" y="5248656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157216"/>
            <a:ext cx="5120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관리자 실시간 코칭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민감 구간에서 관리자가 접속해 실시간 코칭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532120"/>
            <a:ext cx="5422392" cy="749808"/>
          </a:xfrm>
          <a:prstGeom prst="roundRect">
            <a:avLst/>
          </a:prstGeom>
          <a:solidFill>
            <a:srgbClr val="F2F8FF"/>
          </a:solidFill>
          <a:ln w="9525">
            <a:solidFill>
              <a:srgbClr val="BAD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/>
            <a:r>
              <a:rPr sz="1200" b="1" i="0">
                <a:solidFill>
                  <a:srgbClr val="15C2A2"/>
                </a:solidFill>
                <a:latin typeface="Apple SD Gothic Neo"/>
              </a:rPr>
              <a:t>POINT  </a:t>
            </a:r>
            <a:r>
              <a:rPr sz="1300" b="0" i="0">
                <a:solidFill>
                  <a:srgbClr val="0F3468"/>
                </a:solidFill>
                <a:latin typeface="Apple SD Gothic Neo"/>
              </a:rPr>
              <a:t>RAG는 '약관·기준'을, 업무정보는 '고객의 실제 현황'을 분담해 정확히 안내합니다.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56DAE723-CC59-BA97-FC58-C0B573B43EC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400800" y="2459645"/>
            <a:ext cx="5486400" cy="2990269"/>
          </a:xfrm>
          <a:prstGeom prst="rect">
            <a:avLst/>
          </a:prstGeom>
          <a:ln w="12700">
            <a:solidFill>
              <a:srgbClr val="CDD9E8"/>
            </a:solidFill>
          </a:ln>
        </p:spPr>
      </p:pic>
      <p:cxnSp>
        <p:nvCxnSpPr>
          <p:cNvPr id="25" name="Connector 24"/>
          <p:cNvCxnSpPr/>
          <p:nvPr/>
        </p:nvCxnSpPr>
        <p:spPr>
          <a:xfrm flipV="1">
            <a:off x="6035040" y="1997964"/>
            <a:ext cx="402336" cy="1037844"/>
          </a:xfrm>
          <a:prstGeom prst="bentConnector3">
            <a:avLst/>
          </a:prstGeom>
          <a:ln w="15875">
            <a:solidFill>
              <a:srgbClr val="2F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035040" y="2976372"/>
            <a:ext cx="402336" cy="626364"/>
          </a:xfrm>
          <a:prstGeom prst="bentConnector3">
            <a:avLst/>
          </a:prstGeom>
          <a:ln w="15875">
            <a:solidFill>
              <a:srgbClr val="2F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035040" y="3954779"/>
            <a:ext cx="402336" cy="214884"/>
          </a:xfrm>
          <a:prstGeom prst="bentConnector3">
            <a:avLst/>
          </a:prstGeom>
          <a:ln w="15875">
            <a:solidFill>
              <a:srgbClr val="2F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35040" y="4736592"/>
            <a:ext cx="402336" cy="196596"/>
          </a:xfrm>
          <a:prstGeom prst="bentConnector3">
            <a:avLst/>
          </a:prstGeom>
          <a:ln w="15875">
            <a:solidFill>
              <a:srgbClr val="2F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35040" y="5303520"/>
            <a:ext cx="402336" cy="608076"/>
          </a:xfrm>
          <a:prstGeom prst="bentConnector3">
            <a:avLst/>
          </a:prstGeom>
          <a:ln w="15875">
            <a:solidFill>
              <a:srgbClr val="2F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3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15C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ple SD Gothic Neo"/>
              </a:rPr>
              <a:t>SMS 안내 작성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41248"/>
            <a:ext cx="8778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9FC4EE"/>
                </a:solidFill>
                <a:latin typeface="Apple SD Gothic Neo"/>
              </a:rPr>
              <a:t>/post-consultation · sms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61320" y="384048"/>
            <a:ext cx="740664" cy="310896"/>
          </a:xfrm>
          <a:prstGeom prst="roundRect">
            <a:avLst/>
          </a:prstGeom>
          <a:solidFill>
            <a:srgbClr val="3D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100" b="1" i="0">
                <a:solidFill>
                  <a:srgbClr val="0F3468"/>
                </a:solidFill>
                <a:latin typeface="Apple SD Gothic Neo"/>
              </a:rPr>
              <a:t>상담사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B6B80"/>
                </a:solidFill>
                <a:latin typeface="Apple SD Gothic Neo"/>
              </a:rPr>
              <a:t>06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5C2A2"/>
                </a:solidFill>
                <a:latin typeface="Apple SD Gothic Neo"/>
              </a:rPr>
              <a:t>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92224"/>
            <a:ext cx="54223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5B6B80"/>
                </a:solidFill>
                <a:latin typeface="Apple SD Gothic Neo"/>
              </a:rPr>
              <a:t>상담 내용을 근거로 고객 안내 문자를 생성·발송하는 화면입니다.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42032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F6BB0"/>
                </a:solidFill>
                <a:latin typeface="Apple SD Gothic Neo"/>
              </a:rPr>
              <a:t>핵심 기능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2980944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5120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근거 기반 초안 생성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어시스턴트 근거 → 안내 문구 초안 자동 작성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3547872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456432"/>
            <a:ext cx="5120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상담사 편집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초안을 검토·수정 후 발송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" y="4114800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023360"/>
            <a:ext cx="5120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발송 처리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발송 완료 표기 + 표준 안내 문구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32120"/>
            <a:ext cx="5422392" cy="749808"/>
          </a:xfrm>
          <a:prstGeom prst="roundRect">
            <a:avLst/>
          </a:prstGeom>
          <a:solidFill>
            <a:srgbClr val="F2F8FF"/>
          </a:solidFill>
          <a:ln w="9525">
            <a:solidFill>
              <a:srgbClr val="BAD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/>
            <a:r>
              <a:rPr sz="1200" b="1" i="0">
                <a:solidFill>
                  <a:srgbClr val="15C2A2"/>
                </a:solidFill>
                <a:latin typeface="Apple SD Gothic Neo"/>
              </a:rPr>
              <a:t>POINT  </a:t>
            </a:r>
            <a:r>
              <a:rPr sz="1300" b="0" i="0">
                <a:solidFill>
                  <a:srgbClr val="0F3468"/>
                </a:solidFill>
                <a:latin typeface="Apple SD Gothic Neo"/>
              </a:rPr>
              <a:t>상담 요약을 그대로 고객 안내 문자로 연결해 후속 안내를 자동화합니다.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DCDCBBF-E559-24B2-9012-5F6269DBF83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400800" y="2462290"/>
            <a:ext cx="5486400" cy="2984979"/>
          </a:xfrm>
          <a:prstGeom prst="rect">
            <a:avLst/>
          </a:prstGeom>
          <a:ln w="12700">
            <a:solidFill>
              <a:srgbClr val="CDD9E8"/>
            </a:solidFill>
          </a:ln>
        </p:spPr>
      </p:pic>
      <p:cxnSp>
        <p:nvCxnSpPr>
          <p:cNvPr id="20" name="Connector 19"/>
          <p:cNvCxnSpPr/>
          <p:nvPr/>
        </p:nvCxnSpPr>
        <p:spPr>
          <a:xfrm flipV="1">
            <a:off x="6035040" y="2324100"/>
            <a:ext cx="402336" cy="711708"/>
          </a:xfrm>
          <a:prstGeom prst="bentConnector3">
            <a:avLst/>
          </a:prstGeom>
          <a:ln w="15875">
            <a:solidFill>
              <a:srgbClr val="2F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35040" y="3602736"/>
            <a:ext cx="402336" cy="352043"/>
          </a:xfrm>
          <a:prstGeom prst="bentConnector3">
            <a:avLst/>
          </a:prstGeom>
          <a:ln w="15875">
            <a:solidFill>
              <a:srgbClr val="2F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35040" y="4169663"/>
            <a:ext cx="402336" cy="1415796"/>
          </a:xfrm>
          <a:prstGeom prst="bentConnector3">
            <a:avLst/>
          </a:prstGeom>
          <a:ln w="15875">
            <a:solidFill>
              <a:srgbClr val="2F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3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15C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ple SD Gothic Neo"/>
              </a:rPr>
              <a:t>접촉이력 등록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41248"/>
            <a:ext cx="8778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9FC4EE"/>
                </a:solidFill>
                <a:latin typeface="Apple SD Gothic Neo"/>
              </a:rPr>
              <a:t>/post-consultation · contact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61320" y="384048"/>
            <a:ext cx="740664" cy="310896"/>
          </a:xfrm>
          <a:prstGeom prst="roundRect">
            <a:avLst/>
          </a:prstGeom>
          <a:solidFill>
            <a:srgbClr val="3D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100" b="1" i="0">
                <a:solidFill>
                  <a:srgbClr val="0F3468"/>
                </a:solidFill>
                <a:latin typeface="Apple SD Gothic Neo"/>
              </a:rPr>
              <a:t>상담사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B6B80"/>
                </a:solidFill>
                <a:latin typeface="Apple SD Gothic Neo"/>
              </a:rPr>
              <a:t>08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5C2A2"/>
                </a:solidFill>
                <a:latin typeface="Apple SD Gothic Neo"/>
              </a:rPr>
              <a:t>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92224"/>
            <a:ext cx="54223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5B6B80"/>
                </a:solidFill>
                <a:latin typeface="Apple SD Gothic Neo"/>
              </a:rPr>
              <a:t>종료된 상담을 분석해 접촉 유형을 분류하고 이력으로 등록합니다.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42032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F6BB0"/>
                </a:solidFill>
                <a:latin typeface="Apple SD Gothic Neo"/>
              </a:rPr>
              <a:t>핵심 기능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2980944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5120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자동 분석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종료 상담을 분석해 요약·유형 분류 초안 생성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3547872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456432"/>
            <a:ext cx="5120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유형별 요약 편집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접촉 유형(대/중/소)별 요약 초안을 검토·수정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" y="4114800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023360"/>
            <a:ext cx="5120640" cy="3154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 dirty="0" err="1">
                <a:solidFill>
                  <a:srgbClr val="10233F"/>
                </a:solidFill>
                <a:latin typeface="Apple SD Gothic Neo"/>
              </a:rPr>
              <a:t>이력</a:t>
            </a:r>
            <a:r>
              <a:rPr sz="1450" b="1" i="0" dirty="0">
                <a:solidFill>
                  <a:srgbClr val="10233F"/>
                </a:solidFill>
                <a:latin typeface="Apple SD Gothic Neo"/>
              </a:rPr>
              <a:t> </a:t>
            </a:r>
            <a:r>
              <a:rPr sz="1450" b="1" i="0" dirty="0" err="1">
                <a:solidFill>
                  <a:srgbClr val="10233F"/>
                </a:solidFill>
                <a:latin typeface="Apple SD Gothic Neo"/>
              </a:rPr>
              <a:t>등록</a:t>
            </a:r>
            <a:r>
              <a:rPr sz="1450" b="1" i="0" dirty="0">
                <a:solidFill>
                  <a:srgbClr val="10233F"/>
                </a:solidFill>
                <a:latin typeface="Apple SD Gothic Neo"/>
              </a:rPr>
              <a:t> 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표준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형식으로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접촉이력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등록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→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상담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개요에</a:t>
            </a:r>
            <a:r>
              <a:rPr sz="1300" b="0" i="0" dirty="0">
                <a:solidFill>
                  <a:srgbClr val="5B6B80"/>
                </a:solidFill>
                <a:latin typeface="Apple SD Gothic Neo"/>
              </a:rPr>
              <a:t> </a:t>
            </a:r>
            <a:r>
              <a:rPr sz="1300" b="0" i="0" dirty="0" err="1">
                <a:solidFill>
                  <a:srgbClr val="5B6B80"/>
                </a:solidFill>
                <a:latin typeface="Apple SD Gothic Neo"/>
              </a:rPr>
              <a:t>반영</a:t>
            </a:r>
            <a:endParaRPr sz="1300" b="0" i="0" dirty="0">
              <a:solidFill>
                <a:srgbClr val="5B6B80"/>
              </a:solidFill>
              <a:latin typeface="Apple SD Gothic Neo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66928" y="5532120"/>
            <a:ext cx="5422392" cy="749808"/>
          </a:xfrm>
          <a:prstGeom prst="roundRect">
            <a:avLst/>
          </a:prstGeom>
          <a:solidFill>
            <a:srgbClr val="F2F8FF"/>
          </a:solidFill>
          <a:ln w="9525">
            <a:solidFill>
              <a:srgbClr val="BAD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/>
            <a:r>
              <a:rPr sz="1200" b="1" i="0">
                <a:solidFill>
                  <a:srgbClr val="15C2A2"/>
                </a:solidFill>
                <a:latin typeface="Apple SD Gothic Neo"/>
              </a:rPr>
              <a:t>POINT  </a:t>
            </a:r>
            <a:r>
              <a:rPr sz="1300" b="0" i="0">
                <a:solidFill>
                  <a:srgbClr val="0F3468"/>
                </a:solidFill>
                <a:latin typeface="Apple SD Gothic Neo"/>
              </a:rPr>
              <a:t>상담사가 직접 작성하던 접촉이력을 AI가 초안화해 입력 부담을 줄입니다.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769A8DD-C33E-4105-68E5-58296FE4468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400800" y="2461462"/>
            <a:ext cx="5486400" cy="2986635"/>
          </a:xfrm>
          <a:prstGeom prst="rect">
            <a:avLst/>
          </a:prstGeom>
          <a:ln w="12700">
            <a:solidFill>
              <a:srgbClr val="CDD9E8"/>
            </a:solidFill>
          </a:ln>
        </p:spPr>
      </p:pic>
      <p:cxnSp>
        <p:nvCxnSpPr>
          <p:cNvPr id="20" name="Connector 19"/>
          <p:cNvCxnSpPr/>
          <p:nvPr/>
        </p:nvCxnSpPr>
        <p:spPr>
          <a:xfrm flipV="1">
            <a:off x="6035040" y="2324100"/>
            <a:ext cx="402336" cy="711708"/>
          </a:xfrm>
          <a:prstGeom prst="bentConnector3">
            <a:avLst/>
          </a:prstGeom>
          <a:ln w="15875">
            <a:solidFill>
              <a:srgbClr val="2F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35040" y="3602736"/>
            <a:ext cx="402336" cy="352043"/>
          </a:xfrm>
          <a:prstGeom prst="bentConnector3">
            <a:avLst/>
          </a:prstGeom>
          <a:ln w="15875">
            <a:solidFill>
              <a:srgbClr val="2F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35040" y="4169663"/>
            <a:ext cx="402336" cy="1415796"/>
          </a:xfrm>
          <a:prstGeom prst="bentConnector3">
            <a:avLst/>
          </a:prstGeom>
          <a:ln w="15875">
            <a:solidFill>
              <a:srgbClr val="2F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3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15C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ple SD Gothic Neo"/>
              </a:rPr>
              <a:t>상담 이력 조회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41248"/>
            <a:ext cx="8778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9FC4EE"/>
                </a:solidFill>
                <a:latin typeface="Apple SD Gothic Neo"/>
              </a:rPr>
              <a:t>/post-consultation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61320" y="384048"/>
            <a:ext cx="1124712" cy="310896"/>
          </a:xfrm>
          <a:prstGeom prst="roundRect">
            <a:avLst/>
          </a:prstGeom>
          <a:solidFill>
            <a:srgbClr val="3D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100" b="1" i="0">
                <a:solidFill>
                  <a:srgbClr val="0F3468"/>
                </a:solidFill>
                <a:latin typeface="Apple SD Gothic Neo"/>
              </a:rPr>
              <a:t>상담사·관리자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B6B80"/>
                </a:solidFill>
                <a:latin typeface="Apple SD Gothic Neo"/>
              </a:rPr>
              <a:t>07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5C2A2"/>
                </a:solidFill>
                <a:latin typeface="Apple SD Gothic Neo"/>
              </a:rPr>
              <a:t>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92224"/>
            <a:ext cx="54223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5B6B80"/>
                </a:solidFill>
                <a:latin typeface="Apple SD Gothic Neo"/>
              </a:rPr>
              <a:t>콜 이력을 탐색하고 후속업무·검수 상태를 한눈에 보는 화면입니다.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42032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F6BB0"/>
                </a:solidFill>
                <a:latin typeface="Apple SD Gothic Neo"/>
              </a:rPr>
              <a:t>핵심 기능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2980944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5120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기간·검수 필터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최근 7일/30일, 검수 대기/완료 등 조건 탐색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3547872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456432"/>
            <a:ext cx="5120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후속업무 상태 연동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접촉이력·SMS 처리 상태를 실시간 반영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" y="4114800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023360"/>
            <a:ext cx="5120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셀 바로가기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미등록·발송요청·검수 감지 셀 클릭 시 해당 화면으로 즉시 이동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" y="4681728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590288"/>
            <a:ext cx="5120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상세 카드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상담 요약·대화 원문·관리자 코칭 이력·검수 결과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532120"/>
            <a:ext cx="5422392" cy="749808"/>
          </a:xfrm>
          <a:prstGeom prst="roundRect">
            <a:avLst/>
          </a:prstGeom>
          <a:solidFill>
            <a:srgbClr val="F2F8FF"/>
          </a:solidFill>
          <a:ln w="9525">
            <a:solidFill>
              <a:srgbClr val="BAD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/>
            <a:r>
              <a:rPr sz="1200" b="1" i="0">
                <a:solidFill>
                  <a:srgbClr val="15C2A2"/>
                </a:solidFill>
                <a:latin typeface="Apple SD Gothic Neo"/>
              </a:rPr>
              <a:t>POINT  </a:t>
            </a:r>
            <a:r>
              <a:rPr sz="1300" b="0" i="0">
                <a:solidFill>
                  <a:srgbClr val="0F3468"/>
                </a:solidFill>
                <a:latin typeface="Apple SD Gothic Neo"/>
              </a:rPr>
              <a:t>상담 이후의 모든 후속 업무를 이력 한 화면에서 추적·처리합니다.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1427953D-413C-A7E5-6562-673AD190F3D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400800" y="2463278"/>
            <a:ext cx="5486400" cy="2983002"/>
          </a:xfrm>
          <a:prstGeom prst="rect">
            <a:avLst/>
          </a:prstGeom>
          <a:ln w="12700">
            <a:solidFill>
              <a:srgbClr val="CDD9E8"/>
            </a:solidFill>
          </a:ln>
        </p:spPr>
      </p:pic>
      <p:cxnSp>
        <p:nvCxnSpPr>
          <p:cNvPr id="22" name="Connector 21"/>
          <p:cNvCxnSpPr/>
          <p:nvPr/>
        </p:nvCxnSpPr>
        <p:spPr>
          <a:xfrm flipV="1">
            <a:off x="6035040" y="2120264"/>
            <a:ext cx="402336" cy="915544"/>
          </a:xfrm>
          <a:prstGeom prst="bentConnector3">
            <a:avLst/>
          </a:prstGeom>
          <a:ln w="15875">
            <a:solidFill>
              <a:srgbClr val="2F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035040" y="3343274"/>
            <a:ext cx="402336" cy="259462"/>
          </a:xfrm>
          <a:prstGeom prst="bentConnector3">
            <a:avLst/>
          </a:prstGeom>
          <a:ln w="15875">
            <a:solidFill>
              <a:srgbClr val="2F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35040" y="4169663"/>
            <a:ext cx="402336" cy="396622"/>
          </a:xfrm>
          <a:prstGeom prst="bentConnector3">
            <a:avLst/>
          </a:prstGeom>
          <a:ln w="15875">
            <a:solidFill>
              <a:srgbClr val="2F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35040" y="4736592"/>
            <a:ext cx="402336" cy="1052702"/>
          </a:xfrm>
          <a:prstGeom prst="bentConnector3">
            <a:avLst/>
          </a:prstGeom>
          <a:ln w="15875">
            <a:solidFill>
              <a:srgbClr val="2F6B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3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15C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ple SD Gothic Neo"/>
              </a:rPr>
              <a:t>상담 검수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41248"/>
            <a:ext cx="8778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9FC4EE"/>
                </a:solidFill>
                <a:latin typeface="Apple SD Gothic Neo"/>
              </a:rPr>
              <a:t>/post-consultation · audit-result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61320" y="384048"/>
            <a:ext cx="740664" cy="310896"/>
          </a:xfrm>
          <a:prstGeom prst="roundRect">
            <a:avLst/>
          </a:prstGeom>
          <a:solidFill>
            <a:srgbClr val="15C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100" b="1" i="0">
                <a:solidFill>
                  <a:srgbClr val="0F3468"/>
                </a:solidFill>
                <a:latin typeface="Apple SD Gothic Neo"/>
              </a:rPr>
              <a:t>관리자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B6B80"/>
                </a:solidFill>
                <a:latin typeface="Apple SD Gothic Neo"/>
              </a:rPr>
              <a:t>09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5C2A2"/>
                </a:solidFill>
                <a:latin typeface="Apple SD Gothic Neo"/>
              </a:rPr>
              <a:t>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92224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5B6B80"/>
                </a:solidFill>
                <a:latin typeface="Apple SD Gothic Neo"/>
              </a:rPr>
              <a:t>AI 1차 검수와 관리자 휴먼 2차 검수를 한 화면에 담은 검수 리포트입니다.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42032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F6BB0"/>
                </a:solidFill>
                <a:latin typeface="Apple SD Gothic Neo"/>
              </a:rPr>
              <a:t>핵심 기능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2980944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AI 검수 종합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오안내·안내 누락 감지 결과와 위험도 요약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3547872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456432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오안내 / 안내 누락 탭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판정·평가 사유 + 약관·내규 근거 + 매뉴얼 수행 여부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" y="4114800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023360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휴먼 검수 (관리자)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검수 판정 선택 · 코멘트 직접 작성 · 후속 조치 선택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" y="4681728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590288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상담사 피드백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검토 결과를 상담사에게 전달해 재발 방지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532120"/>
            <a:ext cx="11064240" cy="749808"/>
          </a:xfrm>
          <a:prstGeom prst="roundRect">
            <a:avLst/>
          </a:prstGeom>
          <a:solidFill>
            <a:srgbClr val="F2F8FF"/>
          </a:solidFill>
          <a:ln w="9525">
            <a:solidFill>
              <a:srgbClr val="BAD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/>
            <a:r>
              <a:rPr sz="1200" b="1" i="0">
                <a:solidFill>
                  <a:srgbClr val="15C2A2"/>
                </a:solidFill>
                <a:latin typeface="Apple SD Gothic Neo"/>
              </a:rPr>
              <a:t>POINT  </a:t>
            </a:r>
            <a:r>
              <a:rPr sz="1300" b="0" i="0">
                <a:solidFill>
                  <a:srgbClr val="0F3468"/>
                </a:solidFill>
                <a:latin typeface="Apple SD Gothic Neo"/>
              </a:rPr>
              <a:t>AI 감지 → 관리자 판정·코멘트 → 후속 조치까지 검수 루프를 한 화면에서 닫습니다.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3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15C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ple SD Gothic Neo"/>
              </a:rPr>
              <a:t>고객 민원 탐지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41248"/>
            <a:ext cx="8778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9FC4EE"/>
                </a:solidFill>
                <a:latin typeface="Apple SD Gothic Neo"/>
              </a:rPr>
              <a:t>/complaint-detection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61320" y="384048"/>
            <a:ext cx="1124712" cy="310896"/>
          </a:xfrm>
          <a:prstGeom prst="roundRect">
            <a:avLst/>
          </a:prstGeom>
          <a:solidFill>
            <a:srgbClr val="3D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100" b="1" i="0">
                <a:solidFill>
                  <a:srgbClr val="0F3468"/>
                </a:solidFill>
                <a:latin typeface="Apple SD Gothic Neo"/>
              </a:rPr>
              <a:t>상담사·관리자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B6B80"/>
                </a:solidFill>
                <a:latin typeface="Apple SD Gothic Neo"/>
              </a:rPr>
              <a:t>10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5C2A2"/>
                </a:solidFill>
                <a:latin typeface="Apple SD Gothic Neo"/>
              </a:rPr>
              <a:t>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92224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5B6B80"/>
                </a:solidFill>
                <a:latin typeface="Apple SD Gothic Neo"/>
              </a:rPr>
              <a:t>콜 STT 기반으로 불편을 탐지하고 민원 위험을 평가해 VOC로 등록합니다.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42032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F6BB0"/>
                </a:solidFill>
                <a:latin typeface="Apple SD Gothic Neo"/>
              </a:rPr>
              <a:t>핵심 기능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2980944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인사이트 대시보드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민원 위험 추이 · 상품 유형별 민원 · 상담 주의 포인트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3547872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456432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잠재 민원 케이스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불편 신호·민원 발전 위험·제도 개선 영역을 케이스별로 정리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" y="4114800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023360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AI 평가 기준 관리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불편/위험/긴급/분류 기준을 수정·추가, 적용 가능성 검토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" y="4681728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590288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VOC 자동 등록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위험도 기반 선별 → 표준 형식 등록(기존 접수 제외·실패 재수행)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532120"/>
            <a:ext cx="11064240" cy="749808"/>
          </a:xfrm>
          <a:prstGeom prst="roundRect">
            <a:avLst/>
          </a:prstGeom>
          <a:solidFill>
            <a:srgbClr val="F2F8FF"/>
          </a:solidFill>
          <a:ln w="9525">
            <a:solidFill>
              <a:srgbClr val="BAD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/>
            <a:r>
              <a:rPr sz="1200" b="1" i="0">
                <a:solidFill>
                  <a:srgbClr val="15C2A2"/>
                </a:solidFill>
                <a:latin typeface="Apple SD Gothic Neo"/>
              </a:rPr>
              <a:t>POINT  </a:t>
            </a:r>
            <a:r>
              <a:rPr sz="1300" b="0" i="0">
                <a:solidFill>
                  <a:srgbClr val="0F3468"/>
                </a:solidFill>
                <a:latin typeface="Apple SD Gothic Neo"/>
              </a:rPr>
              <a:t>흩어진 불편 신호를 AI가 선별·정량화해 민원으로 번지기 전에 대응합니다.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3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15C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ple SD Gothic Neo"/>
              </a:rPr>
              <a:t>AI 상담 홈 (관리자)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41248"/>
            <a:ext cx="8778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9FC4EE"/>
                </a:solidFill>
                <a:latin typeface="Apple SD Gothic Neo"/>
              </a:rPr>
              <a:t>/main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61320" y="384048"/>
            <a:ext cx="740664" cy="310896"/>
          </a:xfrm>
          <a:prstGeom prst="roundRect">
            <a:avLst/>
          </a:prstGeom>
          <a:solidFill>
            <a:srgbClr val="15C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100" b="1" i="0">
                <a:solidFill>
                  <a:srgbClr val="0F3468"/>
                </a:solidFill>
                <a:latin typeface="Apple SD Gothic Neo"/>
              </a:rPr>
              <a:t>관리자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B6B80"/>
                </a:solidFill>
                <a:latin typeface="Apple SD Gothic Neo"/>
              </a:rPr>
              <a:t>11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5C2A2"/>
                </a:solidFill>
                <a:latin typeface="Apple SD Gothic Neo"/>
              </a:rPr>
              <a:t>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92224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5B6B80"/>
                </a:solidFill>
                <a:latin typeface="Apple SD Gothic Neo"/>
              </a:rPr>
              <a:t>관할 상담사 운영 현황과 상담 품질을 보는 관리자 대시보드입니다.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42032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F6BB0"/>
                </a:solidFill>
                <a:latin typeface="Apple SD Gothic Neo"/>
              </a:rPr>
              <a:t>핵심 기능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2980944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운영 KPI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실시간 상담 중·대기 콜·오안내/누락 감지 현황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3547872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456432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시각화 대시보드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상담사 상태·검수 결과 분포·민원 통계·품질 지표·추이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" y="4114800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023360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실시간 상담 모니터링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상담 중 상담사 입장(청취) / 메시지 발송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" y="4681728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590288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검수 대기 큐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상담번호·담당 상담사 중심으로 검수 대상 관리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532120"/>
            <a:ext cx="11064240" cy="749808"/>
          </a:xfrm>
          <a:prstGeom prst="roundRect">
            <a:avLst/>
          </a:prstGeom>
          <a:solidFill>
            <a:srgbClr val="F2F8FF"/>
          </a:solidFill>
          <a:ln w="9525">
            <a:solidFill>
              <a:srgbClr val="BAD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/>
            <a:r>
              <a:rPr sz="1200" b="1" i="0">
                <a:solidFill>
                  <a:srgbClr val="15C2A2"/>
                </a:solidFill>
                <a:latin typeface="Apple SD Gothic Neo"/>
              </a:rPr>
              <a:t>POINT  </a:t>
            </a:r>
            <a:r>
              <a:rPr sz="1300" b="0" i="0">
                <a:solidFill>
                  <a:srgbClr val="0F3468"/>
                </a:solidFill>
                <a:latin typeface="Apple SD Gothic Neo"/>
              </a:rPr>
              <a:t>상담사 화면과 같은 자리에서 관리자에게 필요한 운영·품질 관점을 제공합니다.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3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15C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ple SD Gothic Neo"/>
              </a:rPr>
              <a:t>실시간 상담 모니터링 (관리자)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41248"/>
            <a:ext cx="8778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9FC4EE"/>
                </a:solidFill>
                <a:latin typeface="Apple SD Gothic Neo"/>
              </a:rPr>
              <a:t>/realtime-monitoring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61320" y="384048"/>
            <a:ext cx="740664" cy="310896"/>
          </a:xfrm>
          <a:prstGeom prst="roundRect">
            <a:avLst/>
          </a:prstGeom>
          <a:solidFill>
            <a:srgbClr val="15C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100" b="1" i="0">
                <a:solidFill>
                  <a:srgbClr val="0F3468"/>
                </a:solidFill>
                <a:latin typeface="Apple SD Gothic Neo"/>
              </a:rPr>
              <a:t>관리자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B6B80"/>
                </a:solidFill>
                <a:latin typeface="Apple SD Gothic Neo"/>
              </a:rPr>
              <a:t>12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5C2A2"/>
                </a:solidFill>
                <a:latin typeface="Apple SD Gothic Neo"/>
              </a:rPr>
              <a:t>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92224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5B6B80"/>
                </a:solidFill>
                <a:latin typeface="Apple SD Gothic Neo"/>
              </a:rPr>
              <a:t>실시간 코칭을 위한 관할 상담사 상담 모니터링 화면입니다.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42032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F6BB0"/>
                </a:solidFill>
                <a:latin typeface="Apple SD Gothic Neo"/>
              </a:rPr>
              <a:t>핵심 기능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2980944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관할 상담사 선택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상담 중 상담사 선택 → 위험·주의 신호 표시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3547872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456432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실시간 STT 청취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선택 상담사의 실시간 상담 내용을 읽기 전용으로 모니터링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" y="4114800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023360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고객 정보·RAG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고객 업무정보와 약관·업무 기준을 함께 확인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" y="4681728"/>
            <a:ext cx="109728" cy="109728"/>
          </a:xfrm>
          <a:prstGeom prst="rect">
            <a:avLst/>
          </a:prstGeom>
          <a:solidFill>
            <a:srgbClr val="2F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590288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0233F"/>
                </a:solidFill>
                <a:latin typeface="Apple SD Gothic Neo"/>
              </a:rPr>
              <a:t>실시간 코칭 채팅  </a:t>
            </a:r>
            <a:r>
              <a:rPr sz="1300" b="0" i="0">
                <a:solidFill>
                  <a:srgbClr val="5B6B80"/>
                </a:solidFill>
                <a:latin typeface="Apple SD Gothic Neo"/>
              </a:rPr>
              <a:t>상담사에게 즉시 코칭 전달(귓속말/전체 안내)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532120"/>
            <a:ext cx="11064240" cy="749808"/>
          </a:xfrm>
          <a:prstGeom prst="roundRect">
            <a:avLst/>
          </a:prstGeom>
          <a:solidFill>
            <a:srgbClr val="F2F8FF"/>
          </a:solidFill>
          <a:ln w="9525">
            <a:solidFill>
              <a:srgbClr val="BAD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/>
            <a:r>
              <a:rPr sz="1200" b="1" i="0">
                <a:solidFill>
                  <a:srgbClr val="15C2A2"/>
                </a:solidFill>
                <a:latin typeface="Apple SD Gothic Neo"/>
              </a:rPr>
              <a:t>POINT  </a:t>
            </a:r>
            <a:r>
              <a:rPr sz="1300" b="0" i="0">
                <a:solidFill>
                  <a:srgbClr val="0F3468"/>
                </a:solidFill>
                <a:latin typeface="Apple SD Gothic Neo"/>
              </a:rPr>
              <a:t>관리자가 상담 현장을 실시간으로 보며 그 자리에서 코칭하는 메인 작업 화면입니다.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12191695" cy="45720"/>
          </a:xfrm>
          <a:prstGeom prst="rect">
            <a:avLst/>
          </a:prstGeom>
          <a:solidFill>
            <a:srgbClr val="15C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pple SD Gothic Neo"/>
              </a:rPr>
              <a:t>기대 효과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350008"/>
            <a:ext cx="128016" cy="128016"/>
          </a:xfrm>
          <a:prstGeom prst="rect">
            <a:avLst/>
          </a:prstGeom>
          <a:solidFill>
            <a:srgbClr val="15C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24942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ple SD Gothic Neo"/>
              </a:rPr>
              <a:t>응대 정확도 향상   </a:t>
            </a:r>
            <a:r>
              <a:rPr sz="1300" b="0" i="0">
                <a:solidFill>
                  <a:srgbClr val="CFE0F1"/>
                </a:solidFill>
                <a:latin typeface="Apple SD Gothic Neo"/>
              </a:rPr>
              <a:t>실시간 STT·RAG·업무정보 연동으로 약관 기준과 고객 실제 현황을 동시에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063240"/>
            <a:ext cx="128016" cy="128016"/>
          </a:xfrm>
          <a:prstGeom prst="rect">
            <a:avLst/>
          </a:prstGeom>
          <a:solidFill>
            <a:srgbClr val="15C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96265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ple SD Gothic Neo"/>
              </a:rPr>
              <a:t>후처리 자동화   </a:t>
            </a:r>
            <a:r>
              <a:rPr sz="1300" b="0" i="0">
                <a:solidFill>
                  <a:srgbClr val="CFE0F1"/>
                </a:solidFill>
                <a:latin typeface="Apple SD Gothic Neo"/>
              </a:rPr>
              <a:t>상담 요약·SMS 초안·접촉이력을 자동 생성해 후처리 시간 단축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776472"/>
            <a:ext cx="128016" cy="128016"/>
          </a:xfrm>
          <a:prstGeom prst="rect">
            <a:avLst/>
          </a:prstGeom>
          <a:solidFill>
            <a:srgbClr val="15C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6758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ple SD Gothic Neo"/>
              </a:rPr>
              <a:t>오안내·누락 선제 검수   </a:t>
            </a:r>
            <a:r>
              <a:rPr sz="1300" b="0" i="0">
                <a:solidFill>
                  <a:srgbClr val="CFE0F1"/>
                </a:solidFill>
                <a:latin typeface="Apple SD Gothic Neo"/>
              </a:rPr>
              <a:t>AI 1차 검수 + 관리자 휴먼 검수로 불완전판매·오안내 리스크 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489704"/>
            <a:ext cx="128016" cy="128016"/>
          </a:xfrm>
          <a:prstGeom prst="rect">
            <a:avLst/>
          </a:prstGeom>
          <a:solidFill>
            <a:srgbClr val="15C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438912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ple SD Gothic Neo"/>
              </a:rPr>
              <a:t>민원 선제 탐지   </a:t>
            </a:r>
            <a:r>
              <a:rPr sz="1300" b="0" i="0">
                <a:solidFill>
                  <a:srgbClr val="CFE0F1"/>
                </a:solidFill>
                <a:latin typeface="Apple SD Gothic Neo"/>
              </a:rPr>
              <a:t>콜 STT 기반 불편 탐지·민원 위험 평가로 VOC를 사전 선별·등록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5202936"/>
            <a:ext cx="128016" cy="128016"/>
          </a:xfrm>
          <a:prstGeom prst="rect">
            <a:avLst/>
          </a:prstGeom>
          <a:solidFill>
            <a:srgbClr val="15C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10235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ple SD Gothic Neo"/>
              </a:rPr>
              <a:t>실시간 코칭 체계   </a:t>
            </a:r>
            <a:r>
              <a:rPr sz="1300" b="0" i="0">
                <a:solidFill>
                  <a:srgbClr val="CFE0F1"/>
                </a:solidFill>
                <a:latin typeface="Apple SD Gothic Neo"/>
              </a:rPr>
              <a:t>관리자가 상담 현장을 청취하며 즉시 코칭, 품질을 상시 관리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1092</Words>
  <Application>Microsoft Macintosh PowerPoint</Application>
  <PresentationFormat>와이드스크린</PresentationFormat>
  <Paragraphs>138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Apple SD Gothic Neo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한 송이</cp:lastModifiedBy>
  <cp:revision>3</cp:revision>
  <dcterms:created xsi:type="dcterms:W3CDTF">2013-01-27T09:14:16Z</dcterms:created>
  <dcterms:modified xsi:type="dcterms:W3CDTF">2026-06-14T15:53:50Z</dcterms:modified>
  <cp:category/>
</cp:coreProperties>
</file>